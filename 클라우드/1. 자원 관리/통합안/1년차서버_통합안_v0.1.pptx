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5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564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15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47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99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36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750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56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428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07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270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020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11347-021B-4FF5-96A5-6B3E62335524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86213-9E3E-4187-87F9-46B01142FF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05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338326"/>
              </p:ext>
            </p:extLst>
          </p:nvPr>
        </p:nvGraphicFramePr>
        <p:xfrm>
          <a:off x="3597554" y="44754"/>
          <a:ext cx="2293880" cy="3169726"/>
        </p:xfrm>
        <a:graphic>
          <a:graphicData uri="http://schemas.openxmlformats.org/drawingml/2006/table">
            <a:tbl>
              <a:tblPr/>
              <a:tblGrid>
                <a:gridCol w="425914">
                  <a:extLst>
                    <a:ext uri="{9D8B030D-6E8A-4147-A177-3AD203B41FA5}">
                      <a16:colId xmlns:a16="http://schemas.microsoft.com/office/drawing/2014/main" val="1524882081"/>
                    </a:ext>
                  </a:extLst>
                </a:gridCol>
                <a:gridCol w="397842">
                  <a:extLst>
                    <a:ext uri="{9D8B030D-6E8A-4147-A177-3AD203B41FA5}">
                      <a16:colId xmlns:a16="http://schemas.microsoft.com/office/drawing/2014/main" val="1265533426"/>
                    </a:ext>
                  </a:extLst>
                </a:gridCol>
                <a:gridCol w="255615">
                  <a:extLst>
                    <a:ext uri="{9D8B030D-6E8A-4147-A177-3AD203B41FA5}">
                      <a16:colId xmlns:a16="http://schemas.microsoft.com/office/drawing/2014/main" val="1204817225"/>
                    </a:ext>
                  </a:extLst>
                </a:gridCol>
                <a:gridCol w="1214509">
                  <a:extLst>
                    <a:ext uri="{9D8B030D-6E8A-4147-A177-3AD203B41FA5}">
                      <a16:colId xmlns:a16="http://schemas.microsoft.com/office/drawing/2014/main" val="2785032754"/>
                    </a:ext>
                  </a:extLst>
                </a:gridCol>
              </a:tblGrid>
              <a:tr h="215926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  <a:r>
                        <a:rPr lang="en-US" sz="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 </a:t>
                      </a:r>
                      <a:br>
                        <a:rPr lang="en-US" sz="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#LMS_CMS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55" marR="2055" marT="20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55" marR="2055" marT="20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55" marR="2055" marT="20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55" marR="2055" marT="20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975371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학교급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교과서 명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저자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접속정보</a:t>
                      </a:r>
                      <a:r>
                        <a:rPr lang="en-US" alt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교차확인 필요</a:t>
                      </a:r>
                      <a:r>
                        <a:rPr lang="en-US" alt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643593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이동환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db-2nmn5-kr1.vpc-cdb.gov-ntruss.com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813024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이동환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db-308ufr-kr1.vpc-cdb.gov-ntruss.com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971970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김태은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db-2o1ai-kr1.vpc-cdb.gov-ntruss.com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179646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김태은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db-308ugs-kr1.vpc-cdb.gov-ntruss.com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596990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함순애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db-2nmqc-kr1.vpc-cdb.gov-ntruss.com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087680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함순애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db-308uik-kr1.vpc-cdb.gov-ntruss.com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015609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중학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이상기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db-2nms0-kr1.vpc-cdb.gov-ntruss.com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82569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중학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 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소영순</a:t>
                      </a:r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db-2nmtt-kr1.vpc-cdb.gov-ntruss.com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470284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강상구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db-2nmv1-kr1.vpc-cdb.gov-ntruss.com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759928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강상구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db-308ujk-kr1.vpc-cdb.gov-ntruss.com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7789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조수경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db-2nn03-kr1.vpc-cdb.gov-ntruss.com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809304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조수경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db-308ukf-kr1.vpc-cdb.gov-ntruss.com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23643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db-2nn1e-kr1.vpc-cdb.gov-ntruss.com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876729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db-30fl0u-kr1.vpc-cdb.gov-ntruss.com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621722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db-308ulb-kr1.vpc-cdb.gov-ntruss.com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535523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db-30fm83-kr1.vpc-cdb.gov-ntruss.com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766720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db-2nn2b-kr1.vpc-cdb.gov-ntruss.com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075490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db-30fl2n-kr1.vpc-cdb.gov-ntruss.com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332469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db-308ult-kr1.vpc-cdb.gov-ntruss.com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450065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db-30fl3g-kr1.vpc-cdb.gov-ntruss.com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981723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중학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김동재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db-2nn3k-kr1.vpc-cdb.gov-ntruss.com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076371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중학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김화경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db-2nn4q-kr1.vpc-cdb.gov-ntruss.com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465044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전인태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db-2nn5k-kr1.vpc-cdb.gov-ntruss.com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93319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전인태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db-308umd-kr1.vpc-cdb.gov-ntruss.com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882708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홍진곤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db-2nn6o-kr1.vpc-cdb.gov-ntruss.com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989828"/>
                  </a:ext>
                </a:extLst>
              </a:tr>
              <a:tr h="1094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홍진곤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db-308un0-kr1.vpc-cdb.gov-ntruss.com</a:t>
                      </a:r>
                    </a:p>
                  </a:txBody>
                  <a:tcPr marL="2055" marR="2055" marT="20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55423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041593"/>
              </p:ext>
            </p:extLst>
          </p:nvPr>
        </p:nvGraphicFramePr>
        <p:xfrm>
          <a:off x="3597552" y="3418441"/>
          <a:ext cx="2293881" cy="3298876"/>
        </p:xfrm>
        <a:graphic>
          <a:graphicData uri="http://schemas.openxmlformats.org/drawingml/2006/table">
            <a:tbl>
              <a:tblPr/>
              <a:tblGrid>
                <a:gridCol w="378828">
                  <a:extLst>
                    <a:ext uri="{9D8B030D-6E8A-4147-A177-3AD203B41FA5}">
                      <a16:colId xmlns:a16="http://schemas.microsoft.com/office/drawing/2014/main" val="1277061442"/>
                    </a:ext>
                  </a:extLst>
                </a:gridCol>
                <a:gridCol w="357392">
                  <a:extLst>
                    <a:ext uri="{9D8B030D-6E8A-4147-A177-3AD203B41FA5}">
                      <a16:colId xmlns:a16="http://schemas.microsoft.com/office/drawing/2014/main" val="2989574339"/>
                    </a:ext>
                  </a:extLst>
                </a:gridCol>
                <a:gridCol w="232079">
                  <a:extLst>
                    <a:ext uri="{9D8B030D-6E8A-4147-A177-3AD203B41FA5}">
                      <a16:colId xmlns:a16="http://schemas.microsoft.com/office/drawing/2014/main" val="1891002711"/>
                    </a:ext>
                  </a:extLst>
                </a:gridCol>
                <a:gridCol w="1325582">
                  <a:extLst>
                    <a:ext uri="{9D8B030D-6E8A-4147-A177-3AD203B41FA5}">
                      <a16:colId xmlns:a16="http://schemas.microsoft.com/office/drawing/2014/main" val="1652372291"/>
                    </a:ext>
                  </a:extLst>
                </a:gridCol>
              </a:tblGrid>
              <a:tr h="1178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#LMS_LRW</a:t>
                      </a: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59" marR="5359" marT="535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8152944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학교급</a:t>
                      </a:r>
                      <a:endParaRPr lang="ko-KR" alt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교과서 명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저자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접속정보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881420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이동환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db-2nmrj-kr1.vpc-cdb.gov-ntruss.com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810759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이동환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db-308unj-kr1.vpc-cdb.gov-ntruss.com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024835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김태은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db-2o1a4-kr1.vpc-cdb.gov-ntruss.com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334688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김태은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db-308uo0-kr1.vpc-cdb.gov-ntruss.com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166553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함순애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db-2nmpr-kr1.vpc-cdb.gov-ntruss.com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417788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함순애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db-308uok-kr1.vpc-cdb.gov-ntruss.com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717182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중학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이상기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db-2nmqs-kr1.vpc-cdb.gov-ntruss.com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74366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중학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 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소영순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db-2nmsn-kr1.vpc-cdb.gov-ntruss.com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971354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강상구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db-2nmue-kr1.vpc-cdb.gov-ntruss.com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436195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강상구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db-308up5-kr1.vpc-cdb.gov-ntruss.com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947336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조수경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db-2nmvf-kr1.vpc-cdb.gov-ntruss.com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20976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조수경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db-308upl-kr1.vpc-cdb.gov-ntruss.com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262863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db-2nn0r-kr1.vpc-cdb.gov-ntruss.com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272082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db-30fl47-kr1.vpc-cdb.gov-ntruss.com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329810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db-308uq8-kr1.vpc-cdb.gov-ntruss.com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725210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db-30fl4s-kr1.vpc-cdb.gov-ntruss.com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437758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db-2nn1s-kr1.vpc-cdb.gov-ntruss.com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590178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db-30fl9k-kr1.vpc-cdb.gov-ntruss.com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77475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db-308urd-kr1.vpc-cdb.gov-ntruss.com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956330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db-30fla9-kr1.vpc-cdb.gov-ntruss.com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047736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중학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김동재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db-2nn37-kr1.vpc-cdb.gov-ntruss.com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603875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중학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김화경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db-2nn4a-kr1.vpc-cdb.gov-ntruss.com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336981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전인태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db-2nn57-kr1.vpc-cdb.gov-ntruss.com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62100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전인태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db-308us7-kr1.vpc-cdb.gov-ntruss.com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696960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홍진곤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db-2nn6b-kr1.vpc-cdb.gov-ntruss.com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567710"/>
                  </a:ext>
                </a:extLst>
              </a:tr>
              <a:tr h="11781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홍진곤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db-308usp-kr1.vpc-cdb.gov-ntruss.com</a:t>
                      </a:r>
                    </a:p>
                  </a:txBody>
                  <a:tcPr marL="5359" marR="5359" marT="53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62925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196813"/>
              </p:ext>
            </p:extLst>
          </p:nvPr>
        </p:nvGraphicFramePr>
        <p:xfrm>
          <a:off x="8138753" y="164490"/>
          <a:ext cx="3884934" cy="6552832"/>
        </p:xfrm>
        <a:graphic>
          <a:graphicData uri="http://schemas.openxmlformats.org/drawingml/2006/table">
            <a:tbl>
              <a:tblPr/>
              <a:tblGrid>
                <a:gridCol w="302678">
                  <a:extLst>
                    <a:ext uri="{9D8B030D-6E8A-4147-A177-3AD203B41FA5}">
                      <a16:colId xmlns:a16="http://schemas.microsoft.com/office/drawing/2014/main" val="154670409"/>
                    </a:ext>
                  </a:extLst>
                </a:gridCol>
                <a:gridCol w="503076">
                  <a:extLst>
                    <a:ext uri="{9D8B030D-6E8A-4147-A177-3AD203B41FA5}">
                      <a16:colId xmlns:a16="http://schemas.microsoft.com/office/drawing/2014/main" val="2162337981"/>
                    </a:ext>
                  </a:extLst>
                </a:gridCol>
                <a:gridCol w="763290">
                  <a:extLst>
                    <a:ext uri="{9D8B030D-6E8A-4147-A177-3AD203B41FA5}">
                      <a16:colId xmlns:a16="http://schemas.microsoft.com/office/drawing/2014/main" val="2329177318"/>
                    </a:ext>
                  </a:extLst>
                </a:gridCol>
                <a:gridCol w="1552600">
                  <a:extLst>
                    <a:ext uri="{9D8B030D-6E8A-4147-A177-3AD203B41FA5}">
                      <a16:colId xmlns:a16="http://schemas.microsoft.com/office/drawing/2014/main" val="748102078"/>
                    </a:ext>
                  </a:extLst>
                </a:gridCol>
                <a:gridCol w="763290">
                  <a:extLst>
                    <a:ext uri="{9D8B030D-6E8A-4147-A177-3AD203B41FA5}">
                      <a16:colId xmlns:a16="http://schemas.microsoft.com/office/drawing/2014/main" val="3618361445"/>
                    </a:ext>
                  </a:extLst>
                </a:gridCol>
              </a:tblGrid>
              <a:tr h="844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교과서 명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교과서 명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저자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접속정보</a:t>
                      </a:r>
                      <a:r>
                        <a:rPr lang="en-US" alt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</a:t>
                      </a:r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서버로 통합</a:t>
                      </a:r>
                      <a:r>
                        <a:rPr lang="en-US" alt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</a:t>
                      </a:r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r>
                        <a:rPr lang="en-US" alt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임시안</a:t>
                      </a:r>
                      <a:r>
                        <a:rPr lang="en-US" altLang="ko-KR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981668"/>
                  </a:ext>
                </a:extLst>
              </a:tr>
              <a:tr h="248784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이동환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영어통합</a:t>
                      </a: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….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vpc-cdb.gov-ntruss.com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lms_lrm_eng01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lms_cms_eng01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lms_lrw_eng01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17027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이동환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lms_lrm_eng02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lms_cms_eng02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lms_lrw_eng02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394390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김태은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lms_lrm_eng03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lms_cms_eng03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lms_lrw_eng03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8783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김태은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lms_lrm_eng04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lms_cms_eng04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lms_lrw_eng04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516530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함순애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lms_lrm_eng05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lms_cms_eng05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lms_lrw_eng05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7215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함순애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lms_lrm_eng06</a:t>
                      </a:r>
                      <a:b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lms_cms_eng06</a:t>
                      </a:r>
                      <a:b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lms_lrw_eng06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774494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이상기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lms_lrm_eng07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lms_cms_eng07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lms_lrw_eng07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2467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영어 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소영순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lms_lrm_eng08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lms_cms_eng08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lms_lrw_eng08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708120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강상구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lms_lrm_eng09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lms_cms_eng09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lms_lrw_eng09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144791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강상구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lms_lrm_eng10</a:t>
                      </a:r>
                      <a:b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lms_cms_eng10</a:t>
                      </a:r>
                      <a:b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lms_lrw_eng10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57605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조수경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lms_lrm_eng11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lms_cms_eng11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lms_lrw_eng11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58493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공통영어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조수경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lms_lrm_eng12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lms_cms_eng12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lms_lrw_eng12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570442"/>
                  </a:ext>
                </a:extLst>
              </a:tr>
              <a:tr h="248784"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수학통합</a:t>
                      </a: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….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vpc-cdb.gov-ntruss.com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lms_lrm_math01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lms_cms_math01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lms_lrw_math01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464426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lms_lrm_math02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lms_cms_math02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lms_lrw_math02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893348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lms_lrm_math03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lms_cms_math03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lms_lrw_math03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554063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박만구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lms_lrm_math04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lms_cms_math04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lms_lrw_math04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954645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lms_lrm_math05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lms_cms_math05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lms_lrw_math05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5586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lms_lrm_math06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lms_cms_math06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lms_lrw_math06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49850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lms_lrm_math07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lms_cms_math07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lms_lrw_math07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042109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 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한대희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lms_lrm_math08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lms_cms_math08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lms_lrw_math08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97427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김동재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lms_lrm_math09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lms_cms_math09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lms_lrw_math09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64136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수학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김화경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lms_lrm_math10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lms_cms_math10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lms_lrw_math10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7332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전인태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lms_lrm_math11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lms_cms_math11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lms_lrw_math11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242246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전인태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lms_lrm_math12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lms_cms_math12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lms_lrw_math12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783415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홍진곤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lms_lrm_math13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lms_cms_math13</a:t>
                      </a:r>
                      <a:b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lms_lrw_math13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369485"/>
                  </a:ext>
                </a:extLst>
              </a:tr>
              <a:tr h="2487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공통수학</a:t>
                      </a: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홍진곤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lms_lrm_math14</a:t>
                      </a:r>
                      <a:b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lms_cms_math14</a:t>
                      </a:r>
                      <a:b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lms_lrw_math14</a:t>
                      </a:r>
                    </a:p>
                  </a:txBody>
                  <a:tcPr marL="2114" marR="2114" marT="211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98428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3597552" y="379830"/>
            <a:ext cx="2293881" cy="91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602241" y="3662291"/>
            <a:ext cx="2293881" cy="91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>
            <a:off x="5894363" y="390380"/>
            <a:ext cx="306675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1" idx="3"/>
          </p:cNvCxnSpPr>
          <p:nvPr/>
        </p:nvCxnSpPr>
        <p:spPr>
          <a:xfrm flipV="1">
            <a:off x="5896122" y="436980"/>
            <a:ext cx="3064999" cy="32710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2542" y="121512"/>
            <a:ext cx="3172265" cy="27392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#</a:t>
            </a:r>
            <a:r>
              <a:rPr lang="ko-KR" altLang="en-US" dirty="0" smtClean="0"/>
              <a:t>통합 </a:t>
            </a:r>
            <a:r>
              <a:rPr lang="en-US" altLang="ko-KR" dirty="0" smtClean="0"/>
              <a:t>1</a:t>
            </a:r>
            <a:r>
              <a:rPr lang="ko-KR" altLang="en-US" dirty="0" smtClean="0"/>
              <a:t>안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sz="1000" dirty="0" smtClean="0">
                <a:latin typeface="+mn-ea"/>
              </a:rPr>
              <a:t>스키마가 각 </a:t>
            </a:r>
            <a:r>
              <a:rPr lang="en-US" altLang="ko-KR" sz="1000" dirty="0" smtClean="0">
                <a:latin typeface="+mn-ea"/>
              </a:rPr>
              <a:t>DB</a:t>
            </a:r>
            <a:r>
              <a:rPr lang="ko-KR" altLang="en-US" sz="1000" dirty="0" err="1" smtClean="0">
                <a:latin typeface="+mn-ea"/>
              </a:rPr>
              <a:t>서버별로</a:t>
            </a:r>
            <a:r>
              <a:rPr lang="ko-KR" altLang="en-US" sz="1000" dirty="0" smtClean="0">
                <a:latin typeface="+mn-ea"/>
              </a:rPr>
              <a:t> 동일하므로 서버 </a:t>
            </a:r>
            <a:r>
              <a:rPr lang="ko-KR" altLang="en-US" sz="1000" dirty="0" err="1" smtClean="0">
                <a:latin typeface="+mn-ea"/>
              </a:rPr>
              <a:t>통합시</a:t>
            </a:r>
            <a:r>
              <a:rPr lang="en-US" altLang="ko-KR" sz="1000" dirty="0" smtClean="0">
                <a:latin typeface="+mn-ea"/>
              </a:rPr>
              <a:t/>
            </a:r>
            <a:br>
              <a:rPr lang="en-US" altLang="ko-KR" sz="1000" dirty="0" smtClean="0">
                <a:latin typeface="+mn-ea"/>
              </a:rPr>
            </a:br>
            <a:r>
              <a:rPr lang="ko-KR" altLang="en-US" sz="1000" dirty="0" smtClean="0">
                <a:latin typeface="+mn-ea"/>
              </a:rPr>
              <a:t>스키마를 분리하여 각각 별도 이관</a:t>
            </a:r>
            <a:endParaRPr lang="en-US" altLang="ko-KR" sz="1000" dirty="0" smtClean="0">
              <a:latin typeface="+mn-ea"/>
            </a:endParaRPr>
          </a:p>
          <a:p>
            <a:r>
              <a:rPr lang="ko-KR" altLang="en-US" sz="1000" dirty="0" err="1" smtClean="0">
                <a:latin typeface="+mn-ea"/>
              </a:rPr>
              <a:t>통합시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DB</a:t>
            </a:r>
            <a:r>
              <a:rPr lang="ko-KR" altLang="en-US" sz="1000" dirty="0" smtClean="0">
                <a:latin typeface="+mn-ea"/>
              </a:rPr>
              <a:t>계정은 </a:t>
            </a:r>
            <a:r>
              <a:rPr lang="en-US" altLang="ko-KR" sz="1000" dirty="0" smtClean="0">
                <a:latin typeface="+mn-ea"/>
              </a:rPr>
              <a:t>Read Only</a:t>
            </a:r>
            <a:r>
              <a:rPr lang="ko-KR" altLang="en-US" sz="1000" dirty="0" smtClean="0">
                <a:latin typeface="+mn-ea"/>
              </a:rPr>
              <a:t>로 </a:t>
            </a:r>
            <a:r>
              <a:rPr lang="ko-KR" altLang="en-US" sz="1000" dirty="0" err="1" smtClean="0">
                <a:latin typeface="+mn-ea"/>
              </a:rPr>
              <a:t>조회권한만</a:t>
            </a:r>
            <a:r>
              <a:rPr lang="ko-KR" altLang="en-US" sz="1000" dirty="0" smtClean="0">
                <a:latin typeface="+mn-ea"/>
              </a:rPr>
              <a:t> 부여</a:t>
            </a:r>
            <a:r>
              <a:rPr lang="en-US" altLang="ko-KR" sz="1000" dirty="0" smtClean="0">
                <a:latin typeface="+mn-ea"/>
              </a:rPr>
              <a:t>?</a:t>
            </a:r>
          </a:p>
          <a:p>
            <a:endParaRPr lang="en-US" altLang="ko-KR" sz="1000" dirty="0" smtClean="0">
              <a:latin typeface="+mn-ea"/>
            </a:endParaRPr>
          </a:p>
          <a:p>
            <a:endParaRPr lang="en-US" altLang="ko-KR" sz="1000" dirty="0">
              <a:latin typeface="+mn-ea"/>
            </a:endParaRPr>
          </a:p>
          <a:p>
            <a:r>
              <a:rPr lang="en-US" altLang="ko-KR" sz="1000" dirty="0" smtClean="0">
                <a:latin typeface="+mn-ea"/>
              </a:rPr>
              <a:t>#</a:t>
            </a:r>
            <a:r>
              <a:rPr lang="ko-KR" altLang="en-US" sz="1000" dirty="0" smtClean="0">
                <a:latin typeface="+mn-ea"/>
              </a:rPr>
              <a:t>고려사항</a:t>
            </a:r>
            <a:endParaRPr lang="en-US" altLang="ko-KR" sz="1000" dirty="0">
              <a:latin typeface="+mn-ea"/>
            </a:endParaRPr>
          </a:p>
          <a:p>
            <a:r>
              <a:rPr lang="ko-KR" altLang="en-US" sz="1000" dirty="0" smtClean="0">
                <a:latin typeface="+mn-ea"/>
              </a:rPr>
              <a:t>서버가 생성되므로 감사대응등의 관리 포인트 발생</a:t>
            </a:r>
            <a:endParaRPr lang="en-US" altLang="ko-KR" sz="1000" dirty="0" smtClean="0">
              <a:latin typeface="+mn-ea"/>
            </a:endParaRPr>
          </a:p>
          <a:p>
            <a:r>
              <a:rPr lang="ko-KR" altLang="en-US" sz="1000" dirty="0" smtClean="0">
                <a:latin typeface="+mn-ea"/>
              </a:rPr>
              <a:t>서버 비용이 지속 발생하며 백업 보관비용 </a:t>
            </a:r>
            <a:r>
              <a:rPr lang="ko-KR" altLang="en-US" sz="1000" dirty="0" err="1" smtClean="0">
                <a:latin typeface="+mn-ea"/>
              </a:rPr>
              <a:t>별도발생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latin typeface="+mn-ea"/>
              </a:rPr>
              <a:t>(</a:t>
            </a:r>
            <a:r>
              <a:rPr lang="ko-KR" altLang="en-US" sz="1000" dirty="0" smtClean="0">
                <a:latin typeface="+mn-ea"/>
              </a:rPr>
              <a:t>이중화도 </a:t>
            </a:r>
            <a:r>
              <a:rPr lang="ko-KR" altLang="en-US" sz="1000" dirty="0" err="1" smtClean="0">
                <a:latin typeface="+mn-ea"/>
              </a:rPr>
              <a:t>필요여부</a:t>
            </a:r>
            <a:r>
              <a:rPr lang="ko-KR" altLang="en-US" sz="1000" dirty="0" smtClean="0">
                <a:latin typeface="+mn-ea"/>
              </a:rPr>
              <a:t> 등</a:t>
            </a:r>
            <a:r>
              <a:rPr lang="en-US" altLang="ko-KR" sz="1000" dirty="0" smtClean="0">
                <a:latin typeface="+mn-ea"/>
              </a:rPr>
              <a:t>)</a:t>
            </a:r>
            <a:br>
              <a:rPr lang="en-US" altLang="ko-KR" sz="1000" dirty="0" smtClean="0">
                <a:latin typeface="+mn-ea"/>
              </a:rPr>
            </a:br>
            <a:r>
              <a:rPr lang="ko-KR" altLang="en-US" sz="1000" dirty="0" smtClean="0">
                <a:latin typeface="+mn-ea"/>
              </a:rPr>
              <a:t>많은 데이터가 </a:t>
            </a:r>
            <a:r>
              <a:rPr lang="en-US" altLang="ko-KR" sz="1000" dirty="0" smtClean="0">
                <a:latin typeface="+mn-ea"/>
              </a:rPr>
              <a:t>1</a:t>
            </a:r>
            <a:r>
              <a:rPr lang="ko-KR" altLang="en-US" sz="1000" dirty="0" smtClean="0">
                <a:latin typeface="+mn-ea"/>
              </a:rPr>
              <a:t>개의 자원에 할당되므로 지연 고려</a:t>
            </a:r>
            <a:endParaRPr lang="en-US" altLang="ko-KR" sz="1000" dirty="0" smtClean="0">
              <a:latin typeface="+mn-ea"/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43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112542" y="121512"/>
            <a:ext cx="3172265" cy="196977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#</a:t>
            </a:r>
            <a:r>
              <a:rPr lang="ko-KR" altLang="en-US" dirty="0" smtClean="0"/>
              <a:t>통합 </a:t>
            </a:r>
            <a:r>
              <a:rPr lang="en-US" altLang="ko-KR" dirty="0" smtClean="0"/>
              <a:t>2</a:t>
            </a:r>
            <a:r>
              <a:rPr lang="ko-KR" altLang="en-US" dirty="0" smtClean="0"/>
              <a:t>안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sz="1000" dirty="0" err="1" smtClean="0">
                <a:latin typeface="+mn-ea"/>
              </a:rPr>
              <a:t>덤프파일을</a:t>
            </a:r>
            <a:r>
              <a:rPr lang="ko-KR" altLang="en-US" sz="1000" dirty="0" smtClean="0">
                <a:latin typeface="+mn-ea"/>
              </a:rPr>
              <a:t> 보관</a:t>
            </a:r>
            <a:r>
              <a:rPr lang="en-US" altLang="ko-KR" sz="1000" dirty="0" smtClean="0">
                <a:latin typeface="+mn-ea"/>
              </a:rPr>
              <a:t>, </a:t>
            </a:r>
            <a:r>
              <a:rPr lang="ko-KR" altLang="en-US" sz="1000" dirty="0" smtClean="0">
                <a:latin typeface="+mn-ea"/>
              </a:rPr>
              <a:t>필요시 </a:t>
            </a:r>
            <a:r>
              <a:rPr lang="en-US" altLang="ko-KR" sz="1000" dirty="0" smtClean="0">
                <a:latin typeface="+mn-ea"/>
              </a:rPr>
              <a:t>DB</a:t>
            </a:r>
            <a:r>
              <a:rPr lang="ko-KR" altLang="en-US" sz="1000" dirty="0" smtClean="0">
                <a:latin typeface="+mn-ea"/>
              </a:rPr>
              <a:t>인스턴스 생성하여 생성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latin typeface="+mn-ea"/>
              </a:rPr>
              <a:t/>
            </a:r>
            <a:br>
              <a:rPr lang="en-US" altLang="ko-KR" sz="1000" dirty="0" smtClean="0">
                <a:latin typeface="+mn-ea"/>
              </a:rPr>
            </a:br>
            <a:r>
              <a:rPr lang="en-US" altLang="ko-KR" sz="1000" dirty="0" smtClean="0">
                <a:latin typeface="+mn-ea"/>
              </a:rPr>
              <a:t>#</a:t>
            </a:r>
            <a:r>
              <a:rPr lang="ko-KR" altLang="en-US" sz="1000" dirty="0" smtClean="0">
                <a:latin typeface="+mn-ea"/>
              </a:rPr>
              <a:t>고려사항</a:t>
            </a:r>
            <a:r>
              <a:rPr lang="en-US" altLang="ko-KR" sz="1000" dirty="0" smtClean="0">
                <a:latin typeface="+mn-ea"/>
              </a:rPr>
              <a:t/>
            </a:r>
            <a:br>
              <a:rPr lang="en-US" altLang="ko-KR" sz="1000" dirty="0" smtClean="0">
                <a:latin typeface="+mn-ea"/>
              </a:rPr>
            </a:br>
            <a:r>
              <a:rPr lang="ko-KR" altLang="en-US" sz="1000" dirty="0" smtClean="0">
                <a:latin typeface="+mn-ea"/>
              </a:rPr>
              <a:t>비용이 </a:t>
            </a:r>
            <a:r>
              <a:rPr lang="en-US" altLang="ko-KR" sz="1000" dirty="0" smtClean="0">
                <a:latin typeface="+mn-ea"/>
              </a:rPr>
              <a:t>1</a:t>
            </a:r>
            <a:r>
              <a:rPr lang="ko-KR" altLang="en-US" sz="1000" dirty="0" smtClean="0">
                <a:latin typeface="+mn-ea"/>
              </a:rPr>
              <a:t>안 보다 비용이 크게 절감</a:t>
            </a:r>
            <a:endParaRPr lang="en-US" altLang="ko-KR" sz="1000" dirty="0">
              <a:latin typeface="+mn-ea"/>
            </a:endParaRPr>
          </a:p>
          <a:p>
            <a:r>
              <a:rPr lang="ko-KR" altLang="en-US" sz="1000" dirty="0" smtClean="0">
                <a:latin typeface="+mn-ea"/>
              </a:rPr>
              <a:t>감사</a:t>
            </a:r>
            <a:r>
              <a:rPr lang="en-US" altLang="ko-KR" sz="1000" dirty="0" smtClean="0">
                <a:latin typeface="+mn-ea"/>
              </a:rPr>
              <a:t>/</a:t>
            </a:r>
            <a:r>
              <a:rPr lang="ko-KR" altLang="en-US" sz="1000" dirty="0" smtClean="0">
                <a:latin typeface="+mn-ea"/>
              </a:rPr>
              <a:t>장애대응등의 별도 관리 포인트가 없음</a:t>
            </a:r>
            <a:endParaRPr lang="en-US" altLang="ko-KR" sz="1000" dirty="0" smtClean="0">
              <a:latin typeface="+mn-ea"/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458" y="268518"/>
            <a:ext cx="3581449" cy="245287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024" y="3129817"/>
            <a:ext cx="3594318" cy="24831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5484" y="42204"/>
            <a:ext cx="1322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#</a:t>
            </a:r>
            <a:r>
              <a:rPr lang="en-US" altLang="ko-KR" sz="1000" b="1" dirty="0" err="1" smtClean="0"/>
              <a:t>lms_lrm</a:t>
            </a:r>
            <a:r>
              <a:rPr lang="en-US" altLang="ko-KR" sz="1000" b="1" dirty="0" smtClean="0"/>
              <a:t>, </a:t>
            </a:r>
            <a:r>
              <a:rPr lang="en-US" altLang="ko-KR" sz="1000" b="1" dirty="0" err="1" smtClean="0"/>
              <a:t>lms_cms</a:t>
            </a:r>
            <a:endParaRPr lang="ko-KR" altLang="en-US" sz="1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425484" y="2937803"/>
            <a:ext cx="1322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#</a:t>
            </a:r>
            <a:r>
              <a:rPr lang="en-US" altLang="ko-KR" sz="1000" b="1" dirty="0" err="1" smtClean="0"/>
              <a:t>lms_lrw</a:t>
            </a:r>
            <a:endParaRPr lang="ko-KR" altLang="en-US" sz="1000" b="1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7120342" y="1403254"/>
            <a:ext cx="1334341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50603" y="1494956"/>
            <a:ext cx="1340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필요시 </a:t>
            </a:r>
            <a:r>
              <a:rPr lang="en-US" altLang="ko-KR" sz="1200" dirty="0" smtClean="0"/>
              <a:t>DB</a:t>
            </a:r>
            <a:r>
              <a:rPr lang="ko-KR" altLang="en-US" sz="1200" dirty="0" smtClean="0"/>
              <a:t>생성</a:t>
            </a:r>
            <a:endParaRPr lang="en-US" altLang="ko-KR" sz="1200" dirty="0" smtClean="0"/>
          </a:p>
          <a:p>
            <a:endParaRPr lang="ko-KR" altLang="en-US" sz="1200" dirty="0"/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858" y="1092287"/>
            <a:ext cx="2610292" cy="189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3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428</Words>
  <Application>Microsoft Office PowerPoint</Application>
  <PresentationFormat>와이드스크린</PresentationFormat>
  <Paragraphs>323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</cp:revision>
  <dcterms:created xsi:type="dcterms:W3CDTF">2026-02-04T02:17:13Z</dcterms:created>
  <dcterms:modified xsi:type="dcterms:W3CDTF">2026-02-04T02:50:34Z</dcterms:modified>
</cp:coreProperties>
</file>